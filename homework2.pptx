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1" r:id="rId6"/>
    <p:sldId id="260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508ABCD-525B-764D-B6CE-94FE4D2F7AD3}" v="113" dt="2025-05-02T16:45:14.80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508"/>
    <p:restoredTop sz="94689"/>
  </p:normalViewPr>
  <p:slideViewPr>
    <p:cSldViewPr snapToGrid="0">
      <p:cViewPr varScale="1">
        <p:scale>
          <a:sx n="108" d="100"/>
          <a:sy n="108" d="100"/>
        </p:scale>
        <p:origin x="25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718573C-A933-7B4D-831C-DD54B71CD489}" type="datetimeFigureOut">
              <a:rPr lang="it-IT" smtClean="0"/>
              <a:t>02/05/25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45F7342-B00F-034F-8FDA-0A62CD947F0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7825823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5F7342-B00F-034F-8FDA-0A62CD947F0B}" type="slidenum">
              <a:rPr lang="it-IT" smtClean="0"/>
              <a:t>7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7413257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609601"/>
            <a:ext cx="8676222" cy="3200400"/>
          </a:xfrm>
        </p:spPr>
        <p:txBody>
          <a:bodyPr anchor="b">
            <a:normAutofit/>
          </a:bodyPr>
          <a:lstStyle>
            <a:lvl1pPr algn="ctr">
              <a:defRPr sz="4800">
                <a:effectLst>
                  <a:glow rad="38100">
                    <a:schemeClr val="bg1">
                      <a:lumMod val="65000"/>
                      <a:lumOff val="35000"/>
                      <a:alpha val="50000"/>
                    </a:schemeClr>
                  </a:glow>
                  <a:outerShdw blurRad="28575" dist="31750" dir="132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76222" cy="1905000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it-IT"/>
              <a:t>Fare clic per modificare lo stile del sottotitolo dello schema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1013" y="3308581"/>
            <a:ext cx="8686800" cy="1468800"/>
          </a:xfrm>
        </p:spPr>
        <p:txBody>
          <a:bodyPr anchor="b"/>
          <a:lstStyle>
            <a:lvl1pPr algn="r">
              <a:defRPr sz="4000" b="0" cap="all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51011" y="4777381"/>
            <a:ext cx="8686801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2" y="2666999"/>
            <a:ext cx="4876800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0612" y="2667000"/>
            <a:ext cx="4876800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29280" y="2658533"/>
            <a:ext cx="4588931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2" y="3243262"/>
            <a:ext cx="4876800" cy="2547937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43133" y="2667000"/>
            <a:ext cx="4604280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0612" y="3243262"/>
            <a:ext cx="4876801" cy="2547937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5/2/25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5/2/25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5/2/25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600200"/>
            <a:ext cx="3549121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03812" y="609601"/>
            <a:ext cx="5943601" cy="51816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2971800"/>
            <a:ext cx="3549121" cy="182880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600200"/>
            <a:ext cx="5334001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33733" y="-18288"/>
            <a:ext cx="3276599" cy="6903720"/>
          </a:xfr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080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it-IT"/>
              <a:t>Fare clic sull'icona per inserire un'immagine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2971800"/>
            <a:ext cx="5334001" cy="182880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399212" y="5883275"/>
            <a:ext cx="914400" cy="365125"/>
          </a:xfrm>
        </p:spPr>
        <p:txBody>
          <a:bodyPr/>
          <a:lstStyle/>
          <a:p>
            <a:fld id="{B61BEF0D-F0BB-DE4B-95CE-6DB70DBA9567}" type="datetimeFigureOut">
              <a:rPr lang="en-US" dirty="0"/>
              <a:pPr/>
              <a:t>5/2/25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2" y="5883275"/>
            <a:ext cx="510540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42612" y="5883275"/>
            <a:ext cx="3225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magine panoramica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4732865"/>
            <a:ext cx="99060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796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it-IT"/>
              <a:t>Fare clic sull'icona per inserire un'immagine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3" y="5299603"/>
            <a:ext cx="9906000" cy="493712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olo e sotto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609601"/>
            <a:ext cx="9905999" cy="3124199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zio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36612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609601"/>
            <a:ext cx="9296398" cy="2743199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buNone/>
              <a:defRPr lang="en-US"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pPr marL="0" lvl="0" indent="0">
              <a:buNone/>
            </a:pPr>
            <a:r>
              <a:rPr lang="it-IT"/>
              <a:t>Fare clic per modificare gli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cheda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3308581"/>
            <a:ext cx="9906000" cy="14688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0" y="4777381"/>
            <a:ext cx="9906001" cy="860400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pPr marL="0" lvl="0" indent="0">
              <a:buNone/>
            </a:pPr>
            <a:r>
              <a:rPr lang="it-IT"/>
              <a:t>Fare clic per modificare gli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cheda nome cita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36612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609601"/>
            <a:ext cx="9296398" cy="2743199"/>
          </a:xfrm>
        </p:spPr>
        <p:txBody>
          <a:bodyPr anchor="ctr">
            <a:normAutofit/>
          </a:bodyPr>
          <a:lstStyle>
            <a:lvl1pPr algn="l">
              <a:defRPr sz="3200" b="0" cap="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41412" y="3886200"/>
            <a:ext cx="9906000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it-IT"/>
              <a:t>Fare clic per modificare gli stili del testo dello schema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775200"/>
            <a:ext cx="9906000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o o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609601"/>
            <a:ext cx="9905999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41412" y="3505200"/>
            <a:ext cx="99060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it-IT"/>
              <a:t>Fare clic per modificare gli stili del testo dello schema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6898" y="609599"/>
            <a:ext cx="2210514" cy="5181601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2" y="609600"/>
            <a:ext cx="7543800" cy="5181600"/>
          </a:xfrm>
        </p:spPr>
        <p:txBody>
          <a:bodyPr vert="eaVert" anchor="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3" y="2666999"/>
            <a:ext cx="9905998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837612" y="5883275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5/2/25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2" y="5883275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2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‹N›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1" r:id="rId9"/>
    <p:sldLayoutId id="2147483657" r:id="rId10"/>
    <p:sldLayoutId id="2147483663" r:id="rId11"/>
    <p:sldLayoutId id="2147483664" r:id="rId12"/>
    <p:sldLayoutId id="2147483665" r:id="rId13"/>
    <p:sldLayoutId id="2147483666" r:id="rId14"/>
    <p:sldLayoutId id="2147483667" r:id="rId15"/>
    <p:sldLayoutId id="2147483658" r:id="rId16"/>
    <p:sldLayoutId id="2147483659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200" kern="1200" cap="all">
          <a:ln w="3175" cmpd="sng">
            <a:noFill/>
          </a:ln>
          <a:gradFill flip="none" rotWithShape="1">
            <a:gsLst>
              <a:gs pos="0">
                <a:schemeClr val="tx1"/>
              </a:gs>
              <a:gs pos="100000">
                <a:schemeClr val="tx1">
                  <a:lumMod val="6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65000"/>
                <a:lumOff val="35000"/>
                <a:alpha val="40000"/>
              </a:schemeClr>
            </a:glow>
            <a:outerShdw blurRad="28575" dist="38100" dir="1404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20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8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6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4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4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8EA61DC-AF59-D0C9-26C5-4C5115B94B3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74730" y="598026"/>
            <a:ext cx="10228785" cy="3200400"/>
          </a:xfrm>
        </p:spPr>
        <p:txBody>
          <a:bodyPr/>
          <a:lstStyle/>
          <a:p>
            <a:r>
              <a:rPr lang="it-IT" b="1" dirty="0" err="1"/>
              <a:t>Homework</a:t>
            </a:r>
            <a:r>
              <a:rPr lang="it-IT" b="1" dirty="0"/>
              <a:t> 2 - classificatori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F2C98176-9AAB-8182-48B7-67DBC96AD57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it-IT" dirty="0"/>
              <a:t>Benedetta Nassi 1000059819</a:t>
            </a:r>
          </a:p>
        </p:txBody>
      </p:sp>
    </p:spTree>
    <p:extLst>
      <p:ext uri="{BB962C8B-B14F-4D97-AF65-F5344CB8AC3E}">
        <p14:creationId xmlns:p14="http://schemas.microsoft.com/office/powerpoint/2010/main" val="14609491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628DD73-33AD-AA8A-D83E-9DE5594593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6562846" cy="1004475"/>
          </a:xfrm>
        </p:spPr>
        <p:txBody>
          <a:bodyPr/>
          <a:lstStyle/>
          <a:p>
            <a:r>
              <a:rPr lang="it-IT" b="1" dirty="0"/>
              <a:t>CIFRAR-10</a:t>
            </a:r>
          </a:p>
        </p:txBody>
      </p:sp>
      <p:pic>
        <p:nvPicPr>
          <p:cNvPr id="6" name="Immagine 5" descr="Immagine che contiene schermata, collage&#10;&#10;Il contenuto generato dall'IA potrebbe non essere corretto.">
            <a:extLst>
              <a:ext uri="{FF2B5EF4-FFF2-40B4-BE49-F238E27FC236}">
                <a16:creationId xmlns:a16="http://schemas.microsoft.com/office/drawing/2014/main" id="{A2445B6D-AF80-F50E-EF4D-B7D3390C36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72006" y="203200"/>
            <a:ext cx="4338125" cy="3362958"/>
          </a:xfrm>
          <a:prstGeom prst="rect">
            <a:avLst/>
          </a:prstGeom>
        </p:spPr>
      </p:pic>
      <p:sp>
        <p:nvSpPr>
          <p:cNvPr id="9" name="CasellaDiTesto 8">
            <a:extLst>
              <a:ext uri="{FF2B5EF4-FFF2-40B4-BE49-F238E27FC236}">
                <a16:creationId xmlns:a16="http://schemas.microsoft.com/office/drawing/2014/main" id="{20D04C94-FCFB-9AC6-AEA8-3C135BB2EA1F}"/>
              </a:ext>
            </a:extLst>
          </p:cNvPr>
          <p:cNvSpPr txBox="1"/>
          <p:nvPr/>
        </p:nvSpPr>
        <p:spPr>
          <a:xfrm>
            <a:off x="203200" y="1391378"/>
            <a:ext cx="656284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buNone/>
            </a:pPr>
            <a:r>
              <a:rPr lang="it-IT" dirty="0"/>
              <a:t>Il dataset in questione è CIFRAR-10, il quale contiene </a:t>
            </a:r>
            <a:r>
              <a:rPr lang="it-IT" b="1" dirty="0"/>
              <a:t>60.000 </a:t>
            </a:r>
            <a:r>
              <a:rPr lang="it-IT" dirty="0"/>
              <a:t>immagini in formato </a:t>
            </a:r>
            <a:r>
              <a:rPr lang="it-IT" b="1" dirty="0"/>
              <a:t>32x32</a:t>
            </a:r>
            <a:r>
              <a:rPr lang="it-IT" dirty="0"/>
              <a:t>, da classificare in </a:t>
            </a:r>
            <a:r>
              <a:rPr lang="it-IT" b="1" u="sng" dirty="0"/>
              <a:t>9 classi distinte</a:t>
            </a:r>
            <a:r>
              <a:rPr lang="it-IT" dirty="0"/>
              <a:t>. </a:t>
            </a:r>
          </a:p>
          <a:p>
            <a:pPr marL="0" indent="0">
              <a:buNone/>
            </a:pPr>
            <a:endParaRPr lang="it-IT" dirty="0"/>
          </a:p>
          <a:p>
            <a:endParaRPr lang="it-IT" dirty="0"/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B286BD59-2FE0-0A32-244B-3EBE436890EF}"/>
              </a:ext>
            </a:extLst>
          </p:cNvPr>
          <p:cNvSpPr txBox="1"/>
          <p:nvPr/>
        </p:nvSpPr>
        <p:spPr>
          <a:xfrm>
            <a:off x="176433" y="3658966"/>
            <a:ext cx="36576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b="0" i="0" u="none" strike="noStrike" dirty="0">
                <a:effectLst/>
              </a:rPr>
              <a:t>Il dataset è suddiviso in </a:t>
            </a:r>
            <a:r>
              <a:rPr lang="it-IT" b="1" i="0" u="none" strike="noStrike" dirty="0">
                <a:effectLst/>
              </a:rPr>
              <a:t>cinque</a:t>
            </a:r>
            <a:r>
              <a:rPr lang="it-IT" b="0" i="0" u="none" strike="noStrike" dirty="0">
                <a:effectLst/>
              </a:rPr>
              <a:t> batch di </a:t>
            </a:r>
            <a:r>
              <a:rPr lang="it-IT" b="1" i="0" u="none" strike="noStrike" dirty="0">
                <a:effectLst/>
              </a:rPr>
              <a:t>addestramento</a:t>
            </a:r>
            <a:r>
              <a:rPr lang="it-IT" b="0" i="0" u="none" strike="noStrike" dirty="0">
                <a:effectLst/>
              </a:rPr>
              <a:t> e </a:t>
            </a:r>
            <a:r>
              <a:rPr lang="it-IT" b="1" i="0" u="none" strike="noStrike" dirty="0">
                <a:effectLst/>
              </a:rPr>
              <a:t>un</a:t>
            </a:r>
            <a:r>
              <a:rPr lang="it-IT" b="0" i="0" u="none" strike="noStrike" dirty="0">
                <a:effectLst/>
              </a:rPr>
              <a:t> batch di </a:t>
            </a:r>
            <a:r>
              <a:rPr lang="it-IT" b="1" i="0" u="none" strike="noStrike" dirty="0">
                <a:effectLst/>
              </a:rPr>
              <a:t>test</a:t>
            </a:r>
            <a:r>
              <a:rPr lang="it-IT" b="0" i="0" u="none" strike="noStrike" dirty="0">
                <a:effectLst/>
              </a:rPr>
              <a:t>, ciascuno contenente </a:t>
            </a:r>
            <a:r>
              <a:rPr lang="it-IT" b="0" i="0" u="sng" strike="noStrike" dirty="0">
                <a:effectLst/>
              </a:rPr>
              <a:t>10.000 immagini</a:t>
            </a:r>
            <a:r>
              <a:rPr lang="it-IT" dirty="0"/>
              <a:t>:</a:t>
            </a:r>
          </a:p>
        </p:txBody>
      </p:sp>
      <p:sp>
        <p:nvSpPr>
          <p:cNvPr id="17" name="CasellaDiTesto 16">
            <a:extLst>
              <a:ext uri="{FF2B5EF4-FFF2-40B4-BE49-F238E27FC236}">
                <a16:creationId xmlns:a16="http://schemas.microsoft.com/office/drawing/2014/main" id="{6A089681-2970-EE45-E10D-FA8B6ABB00B7}"/>
              </a:ext>
            </a:extLst>
          </p:cNvPr>
          <p:cNvSpPr txBox="1"/>
          <p:nvPr/>
        </p:nvSpPr>
        <p:spPr>
          <a:xfrm>
            <a:off x="4844705" y="3806679"/>
            <a:ext cx="717086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it-IT" b="0" i="0" u="none" strike="noStrike" dirty="0">
                <a:effectLst/>
              </a:rPr>
              <a:t>Il batch di </a:t>
            </a:r>
            <a:r>
              <a:rPr lang="it-IT" b="1" i="0" u="sng" strike="noStrike" dirty="0">
                <a:effectLst/>
              </a:rPr>
              <a:t>test</a:t>
            </a:r>
            <a:r>
              <a:rPr lang="it-IT" b="0" i="0" u="none" strike="noStrike" dirty="0">
                <a:effectLst/>
              </a:rPr>
              <a:t> contiene </a:t>
            </a:r>
            <a:r>
              <a:rPr lang="it-IT" b="0" i="0" u="sng" strike="noStrike" dirty="0">
                <a:effectLst/>
              </a:rPr>
              <a:t>1.000 immagini </a:t>
            </a:r>
            <a:r>
              <a:rPr lang="it-IT" b="0" i="0" u="none" strike="noStrike" dirty="0">
                <a:effectLst/>
              </a:rPr>
              <a:t>per </a:t>
            </a:r>
            <a:r>
              <a:rPr lang="it-IT" b="1" i="0" u="none" strike="noStrike" dirty="0">
                <a:effectLst/>
              </a:rPr>
              <a:t>ciascuna</a:t>
            </a:r>
            <a:r>
              <a:rPr lang="it-IT" b="0" i="0" u="none" strike="noStrike" dirty="0">
                <a:effectLst/>
              </a:rPr>
              <a:t> classe.</a:t>
            </a:r>
            <a:br>
              <a:rPr lang="it-IT" b="0" i="0" u="none" strike="noStrike" dirty="0">
                <a:effectLst/>
              </a:rPr>
            </a:br>
            <a:endParaRPr lang="it-IT" dirty="0"/>
          </a:p>
        </p:txBody>
      </p:sp>
      <p:sp>
        <p:nvSpPr>
          <p:cNvPr id="19" name="CasellaDiTesto 18">
            <a:extLst>
              <a:ext uri="{FF2B5EF4-FFF2-40B4-BE49-F238E27FC236}">
                <a16:creationId xmlns:a16="http://schemas.microsoft.com/office/drawing/2014/main" id="{ACCD3404-3BCF-EAFB-6C2F-32AAA32FFFA0}"/>
              </a:ext>
            </a:extLst>
          </p:cNvPr>
          <p:cNvSpPr txBox="1"/>
          <p:nvPr/>
        </p:nvSpPr>
        <p:spPr>
          <a:xfrm>
            <a:off x="4883053" y="5019054"/>
            <a:ext cx="7308947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b="0" i="0" u="none" strike="noStrike" dirty="0">
                <a:effectLst/>
              </a:rPr>
              <a:t>I batch di </a:t>
            </a:r>
            <a:r>
              <a:rPr lang="it-IT" b="1" i="0" u="sng" strike="noStrike" dirty="0">
                <a:effectLst/>
              </a:rPr>
              <a:t>addestramento</a:t>
            </a:r>
            <a:r>
              <a:rPr lang="it-IT" b="0" i="0" u="none" strike="noStrike" dirty="0">
                <a:effectLst/>
              </a:rPr>
              <a:t> contengono le </a:t>
            </a:r>
            <a:r>
              <a:rPr lang="it-IT" b="1" i="0" u="none" strike="noStrike" dirty="0">
                <a:effectLst/>
              </a:rPr>
              <a:t>restanti immagini </a:t>
            </a:r>
            <a:r>
              <a:rPr lang="it-IT" b="0" i="0" u="none" strike="noStrike" dirty="0">
                <a:effectLst/>
              </a:rPr>
              <a:t>in ordine casuale, ma alcuni batch di addestramento possono contenere più immagini di una classe rispetto ad un'altra. Nel complesso, contengono esattamente </a:t>
            </a:r>
            <a:r>
              <a:rPr lang="it-IT" b="0" i="0" u="sng" strike="noStrike" dirty="0">
                <a:effectLst/>
              </a:rPr>
              <a:t>5.000 immagini </a:t>
            </a:r>
            <a:r>
              <a:rPr lang="it-IT" b="0" i="0" u="none" strike="noStrike" dirty="0">
                <a:effectLst/>
              </a:rPr>
              <a:t>per </a:t>
            </a:r>
            <a:r>
              <a:rPr lang="it-IT" b="1" i="0" u="none" strike="noStrike" dirty="0">
                <a:effectLst/>
              </a:rPr>
              <a:t>ciascuna</a:t>
            </a:r>
            <a:r>
              <a:rPr lang="it-IT" b="0" i="0" u="none" strike="noStrike" dirty="0">
                <a:effectLst/>
              </a:rPr>
              <a:t> classe.</a:t>
            </a:r>
            <a:endParaRPr lang="it-IT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40928249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945AC4D-86D5-2D69-F27A-20F01AA153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14300"/>
            <a:ext cx="9905998" cy="1101042"/>
          </a:xfrm>
        </p:spPr>
        <p:txBody>
          <a:bodyPr/>
          <a:lstStyle/>
          <a:p>
            <a:r>
              <a:rPr lang="it-IT" b="1" dirty="0"/>
              <a:t>Caricamento del </a:t>
            </a:r>
            <a:r>
              <a:rPr lang="it-IT" b="1" dirty="0" err="1"/>
              <a:t>DATAset</a:t>
            </a:r>
            <a:endParaRPr lang="it-IT" b="1" dirty="0"/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47C304F5-53CE-8053-4CA1-DDBBF8222789}"/>
              </a:ext>
            </a:extLst>
          </p:cNvPr>
          <p:cNvSpPr txBox="1"/>
          <p:nvPr/>
        </p:nvSpPr>
        <p:spPr>
          <a:xfrm>
            <a:off x="1013361" y="1267197"/>
            <a:ext cx="101652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dirty="0"/>
              <a:t>Per sfruttare la divisione di default del dataset ho usato la funzione </a:t>
            </a:r>
            <a:r>
              <a:rPr lang="it-IT" b="1" i="1" dirty="0" err="1"/>
              <a:t>load_data</a:t>
            </a:r>
            <a:r>
              <a:rPr lang="it-IT" b="1" i="1" dirty="0"/>
              <a:t>()</a:t>
            </a:r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F163AB00-2DC0-7B35-05F1-8ABD2275E6DD}"/>
              </a:ext>
            </a:extLst>
          </p:cNvPr>
          <p:cNvSpPr txBox="1"/>
          <p:nvPr/>
        </p:nvSpPr>
        <p:spPr>
          <a:xfrm>
            <a:off x="170362" y="3261084"/>
            <a:ext cx="31005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b="1" dirty="0"/>
              <a:t>Sotto-campionamento:</a:t>
            </a:r>
          </a:p>
        </p:txBody>
      </p: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116EA728-0BDF-4012-6568-15CDB63C8FE2}"/>
              </a:ext>
            </a:extLst>
          </p:cNvPr>
          <p:cNvSpPr txBox="1"/>
          <p:nvPr/>
        </p:nvSpPr>
        <p:spPr>
          <a:xfrm>
            <a:off x="5838977" y="4146088"/>
            <a:ext cx="524069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dirty="0"/>
              <a:t>Poiché l’addestramento di ciascun modello sarebbe risultato </a:t>
            </a:r>
            <a:r>
              <a:rPr lang="it-IT" b="1" dirty="0"/>
              <a:t>oneroso</a:t>
            </a:r>
            <a:r>
              <a:rPr lang="it-IT" dirty="0"/>
              <a:t> in termini di </a:t>
            </a:r>
            <a:r>
              <a:rPr lang="it-IT" u="sng" dirty="0"/>
              <a:t>costo computazionale</a:t>
            </a:r>
            <a:r>
              <a:rPr lang="it-IT" dirty="0"/>
              <a:t>, ho deciso di effettuare un </a:t>
            </a:r>
            <a:r>
              <a:rPr lang="it-IT" b="1" dirty="0"/>
              <a:t>sotto-campionamento.</a:t>
            </a:r>
          </a:p>
        </p:txBody>
      </p: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4BBAB7F7-CC26-BC6E-39BF-D66852E7D9A3}"/>
              </a:ext>
            </a:extLst>
          </p:cNvPr>
          <p:cNvSpPr txBox="1"/>
          <p:nvPr/>
        </p:nvSpPr>
        <p:spPr>
          <a:xfrm>
            <a:off x="2705530" y="5865170"/>
            <a:ext cx="67809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dirty="0"/>
              <a:t>Ho deciso di utilizzare solo il </a:t>
            </a:r>
            <a:r>
              <a:rPr lang="it-IT" b="1" dirty="0"/>
              <a:t>10%</a:t>
            </a:r>
            <a:r>
              <a:rPr lang="it-IT" dirty="0"/>
              <a:t> del dataset originale</a:t>
            </a:r>
          </a:p>
        </p:txBody>
      </p:sp>
      <p:pic>
        <p:nvPicPr>
          <p:cNvPr id="4" name="Immagine 3" descr="Immagine che contiene testo, Carattere, schermata&#10;&#10;Il contenuto generato dall'IA potrebbe non essere corretto.">
            <a:extLst>
              <a:ext uri="{FF2B5EF4-FFF2-40B4-BE49-F238E27FC236}">
                <a16:creationId xmlns:a16="http://schemas.microsoft.com/office/drawing/2014/main" id="{425E3FE0-1602-A56E-96A0-EA0D045E16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362" y="3901703"/>
            <a:ext cx="4508500" cy="1689100"/>
          </a:xfrm>
          <a:prstGeom prst="rect">
            <a:avLst/>
          </a:prstGeom>
        </p:spPr>
      </p:pic>
      <p:pic>
        <p:nvPicPr>
          <p:cNvPr id="7" name="Immagine 6" descr="Immagine che contiene testo, schermata, Carattere&#10;&#10;Il contenuto generato dall'IA potrebbe non essere corretto.">
            <a:extLst>
              <a:ext uri="{FF2B5EF4-FFF2-40B4-BE49-F238E27FC236}">
                <a16:creationId xmlns:a16="http://schemas.microsoft.com/office/drawing/2014/main" id="{8407CC04-0A4A-1FB6-2AF9-8D734C4949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53833" y="1865088"/>
            <a:ext cx="4770288" cy="9152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17808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440D030-26C8-1554-AA02-87BC69CECA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4776716" cy="968991"/>
          </a:xfrm>
        </p:spPr>
        <p:txBody>
          <a:bodyPr/>
          <a:lstStyle/>
          <a:p>
            <a:r>
              <a:rPr lang="it-IT" b="1" dirty="0"/>
              <a:t>Model </a:t>
            </a:r>
            <a:r>
              <a:rPr lang="it-IT" b="1" dirty="0" err="1"/>
              <a:t>Selection</a:t>
            </a:r>
            <a:endParaRPr lang="it-IT" b="1" dirty="0"/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89D7E15B-8374-1EA6-5FF5-8971F9705004}"/>
              </a:ext>
            </a:extLst>
          </p:cNvPr>
          <p:cNvSpPr txBox="1"/>
          <p:nvPr/>
        </p:nvSpPr>
        <p:spPr>
          <a:xfrm>
            <a:off x="0" y="784325"/>
            <a:ext cx="1221129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Lo scopo della </a:t>
            </a:r>
            <a:r>
              <a:rPr lang="it-IT" i="1" dirty="0"/>
              <a:t>model </a:t>
            </a:r>
            <a:r>
              <a:rPr lang="it-IT" i="1" dirty="0" err="1"/>
              <a:t>selection</a:t>
            </a:r>
            <a:r>
              <a:rPr lang="it-IT" dirty="0"/>
              <a:t> è trovare la migliore combinazione di </a:t>
            </a:r>
            <a:r>
              <a:rPr lang="it-IT" b="1" u="sng" dirty="0" err="1"/>
              <a:t>iperparametri</a:t>
            </a:r>
            <a:r>
              <a:rPr lang="it-IT" dirty="0"/>
              <a:t> per ciascun modello. Per tutti i modelli richiesti nella consegna ho deciso di effettuare la model </a:t>
            </a:r>
            <a:r>
              <a:rPr lang="it-IT" dirty="0" err="1"/>
              <a:t>selection</a:t>
            </a:r>
            <a:r>
              <a:rPr lang="it-IT" dirty="0"/>
              <a:t> tramite </a:t>
            </a:r>
            <a:r>
              <a:rPr lang="it-IT" b="1" u="sng" dirty="0" err="1"/>
              <a:t>grid-search</a:t>
            </a:r>
            <a:r>
              <a:rPr lang="it-IT" b="1" u="sng" dirty="0"/>
              <a:t>:</a:t>
            </a: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DC5DE3E4-1CE7-EC30-6064-7F6DE0FD1EB1}"/>
              </a:ext>
            </a:extLst>
          </p:cNvPr>
          <p:cNvSpPr txBox="1"/>
          <p:nvPr/>
        </p:nvSpPr>
        <p:spPr>
          <a:xfrm>
            <a:off x="4051139" y="1633186"/>
            <a:ext cx="26725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b="1" dirty="0">
                <a:latin typeface="Arial" panose="020B0604020202020204" pitchFamily="34" charset="0"/>
                <a:cs typeface="Arial" panose="020B0604020202020204" pitchFamily="34" charset="0"/>
              </a:rPr>
              <a:t>Perché la </a:t>
            </a:r>
            <a:r>
              <a:rPr lang="it-IT" b="1" dirty="0" err="1">
                <a:latin typeface="Arial" panose="020B0604020202020204" pitchFamily="34" charset="0"/>
                <a:cs typeface="Arial" panose="020B0604020202020204" pitchFamily="34" charset="0"/>
              </a:rPr>
              <a:t>grid-search</a:t>
            </a:r>
            <a:r>
              <a:rPr lang="it-IT" b="1" dirty="0">
                <a:latin typeface="Arial" panose="020B0604020202020204" pitchFamily="34" charset="0"/>
                <a:cs typeface="Arial" panose="020B0604020202020204" pitchFamily="34" charset="0"/>
              </a:rPr>
              <a:t>?</a:t>
            </a:r>
          </a:p>
        </p:txBody>
      </p:sp>
      <p:sp>
        <p:nvSpPr>
          <p:cNvPr id="8" name="Rettangolo con angoli arrotondati 7">
            <a:extLst>
              <a:ext uri="{FF2B5EF4-FFF2-40B4-BE49-F238E27FC236}">
                <a16:creationId xmlns:a16="http://schemas.microsoft.com/office/drawing/2014/main" id="{AAE513E5-BA06-D57D-C3D2-4AAA3C1FCF19}"/>
              </a:ext>
            </a:extLst>
          </p:cNvPr>
          <p:cNvSpPr/>
          <p:nvPr/>
        </p:nvSpPr>
        <p:spPr>
          <a:xfrm>
            <a:off x="822208" y="2422797"/>
            <a:ext cx="2395960" cy="369332"/>
          </a:xfrm>
          <a:prstGeom prst="roundRect">
            <a:avLst/>
          </a:prstGeom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700" dirty="0">
                <a:latin typeface="Arial" panose="020B0604020202020204" pitchFamily="34" charset="0"/>
                <a:cs typeface="Arial" panose="020B0604020202020204" pitchFamily="34" charset="0"/>
              </a:rPr>
              <a:t>Sotto-campionamento</a:t>
            </a:r>
          </a:p>
        </p:txBody>
      </p:sp>
      <p:sp>
        <p:nvSpPr>
          <p:cNvPr id="13" name="Freccia giù 12">
            <a:extLst>
              <a:ext uri="{FF2B5EF4-FFF2-40B4-BE49-F238E27FC236}">
                <a16:creationId xmlns:a16="http://schemas.microsoft.com/office/drawing/2014/main" id="{17EA02CD-F936-9FAF-D75C-9024DC388211}"/>
              </a:ext>
            </a:extLst>
          </p:cNvPr>
          <p:cNvSpPr/>
          <p:nvPr/>
        </p:nvSpPr>
        <p:spPr>
          <a:xfrm rot="3159489">
            <a:off x="3427196" y="1773231"/>
            <a:ext cx="195958" cy="622808"/>
          </a:xfrm>
          <a:prstGeom prst="downArrow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>
              <a:solidFill>
                <a:schemeClr val="tx1"/>
              </a:solidFill>
            </a:endParaRPr>
          </a:p>
        </p:txBody>
      </p:sp>
      <p:sp>
        <p:nvSpPr>
          <p:cNvPr id="14" name="Rettangolo con angoli arrotondati 13">
            <a:extLst>
              <a:ext uri="{FF2B5EF4-FFF2-40B4-BE49-F238E27FC236}">
                <a16:creationId xmlns:a16="http://schemas.microsoft.com/office/drawing/2014/main" id="{01556BF9-C6F4-CB48-AE31-FC8418A29F0C}"/>
              </a:ext>
            </a:extLst>
          </p:cNvPr>
          <p:cNvSpPr/>
          <p:nvPr/>
        </p:nvSpPr>
        <p:spPr>
          <a:xfrm>
            <a:off x="51962" y="3591366"/>
            <a:ext cx="4195823" cy="167723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600" b="1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MASSIMO UTILIZZO DEI DATI DISPONIBILI</a:t>
            </a:r>
            <a:r>
              <a:rPr lang="it-IT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lavorando su una piccola porzione del dataset, </a:t>
            </a:r>
            <a:r>
              <a:rPr lang="it-IT" sz="16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grid-seach</a:t>
            </a:r>
            <a:r>
              <a:rPr lang="it-IT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implica la cross-</a:t>
            </a:r>
            <a:r>
              <a:rPr lang="it-IT" sz="16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validation</a:t>
            </a:r>
            <a:r>
              <a:rPr lang="it-IT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che consente di </a:t>
            </a:r>
            <a:r>
              <a:rPr lang="it-IT" sz="1600" b="0" i="0" u="none" strike="noStrike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usare </a:t>
            </a:r>
            <a:r>
              <a:rPr lang="it-IT" sz="1600" b="1" i="0" u="none" strike="noStrike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tutti i dati sia per l’addestramento che per la valutazione</a:t>
            </a:r>
            <a:r>
              <a:rPr lang="it-IT" sz="1600" b="0" i="0" u="none" strike="noStrike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a rotazione</a:t>
            </a:r>
            <a:endParaRPr lang="it-IT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Freccia giù 14">
            <a:extLst>
              <a:ext uri="{FF2B5EF4-FFF2-40B4-BE49-F238E27FC236}">
                <a16:creationId xmlns:a16="http://schemas.microsoft.com/office/drawing/2014/main" id="{F49FBCA0-0ACE-B73A-3C8F-D3BAFE0FA3D1}"/>
              </a:ext>
            </a:extLst>
          </p:cNvPr>
          <p:cNvSpPr/>
          <p:nvPr/>
        </p:nvSpPr>
        <p:spPr>
          <a:xfrm>
            <a:off x="1988640" y="2919773"/>
            <a:ext cx="161234" cy="509227"/>
          </a:xfrm>
          <a:prstGeom prst="downArrow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>
              <a:solidFill>
                <a:schemeClr val="tx1"/>
              </a:solidFill>
            </a:endParaRPr>
          </a:p>
        </p:txBody>
      </p:sp>
      <p:sp>
        <p:nvSpPr>
          <p:cNvPr id="16" name="Rettangolo con angoli arrotondati 15">
            <a:extLst>
              <a:ext uri="{FF2B5EF4-FFF2-40B4-BE49-F238E27FC236}">
                <a16:creationId xmlns:a16="http://schemas.microsoft.com/office/drawing/2014/main" id="{32B097B3-428C-3C98-1B5C-3A3F4D88CDC2}"/>
              </a:ext>
            </a:extLst>
          </p:cNvPr>
          <p:cNvSpPr/>
          <p:nvPr/>
        </p:nvSpPr>
        <p:spPr>
          <a:xfrm>
            <a:off x="51961" y="5432096"/>
            <a:ext cx="4195823" cy="130437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it-IT" sz="1600" b="1" i="0" u="none" strike="noStrike" dirty="0">
                <a:solidFill>
                  <a:srgbClr val="FFFF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MENO VARIANZA NELLA VALUTAZIONE</a:t>
            </a:r>
            <a:r>
              <a:rPr lang="it-IT" sz="1600" b="1" i="0" u="none" strike="noStrike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it-IT" sz="1600" i="0" u="none" strike="noStrike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con</a:t>
            </a:r>
            <a:r>
              <a:rPr lang="it-IT" sz="1600" b="0" i="0" u="none" strike="noStrike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pochi dati, una semplice divisione casuale in </a:t>
            </a:r>
            <a:r>
              <a:rPr lang="it-IT" sz="1600" b="0" i="0" u="none" strike="noStrike" dirty="0" err="1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train</a:t>
            </a:r>
            <a:r>
              <a:rPr lang="it-IT" sz="1600" b="0" i="0" u="none" strike="noStrike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/test può produrre risultati altamente variabili (</a:t>
            </a:r>
            <a:r>
              <a:rPr lang="it-IT" sz="1600" b="0" i="0" u="none" strike="noStrike" dirty="0" err="1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grid-search</a:t>
            </a:r>
            <a:r>
              <a:rPr lang="it-IT" sz="1600" b="0" i="0" u="none" strike="noStrike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riduce questa varianza)</a:t>
            </a:r>
          </a:p>
        </p:txBody>
      </p:sp>
      <p:sp>
        <p:nvSpPr>
          <p:cNvPr id="3" name="Freccia giù 2">
            <a:extLst>
              <a:ext uri="{FF2B5EF4-FFF2-40B4-BE49-F238E27FC236}">
                <a16:creationId xmlns:a16="http://schemas.microsoft.com/office/drawing/2014/main" id="{DB17B030-5F7D-3F90-895F-1C2DB7335F02}"/>
              </a:ext>
            </a:extLst>
          </p:cNvPr>
          <p:cNvSpPr/>
          <p:nvPr/>
        </p:nvSpPr>
        <p:spPr>
          <a:xfrm rot="18270146">
            <a:off x="7156771" y="1763583"/>
            <a:ext cx="195958" cy="622808"/>
          </a:xfrm>
          <a:prstGeom prst="downArrow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>
              <a:solidFill>
                <a:schemeClr val="tx1"/>
              </a:solidFill>
            </a:endParaRPr>
          </a:p>
        </p:txBody>
      </p:sp>
      <p:sp>
        <p:nvSpPr>
          <p:cNvPr id="6" name="Rettangolo con angoli arrotondati 5">
            <a:extLst>
              <a:ext uri="{FF2B5EF4-FFF2-40B4-BE49-F238E27FC236}">
                <a16:creationId xmlns:a16="http://schemas.microsoft.com/office/drawing/2014/main" id="{075B12C6-DC24-F885-48C7-CC2DD92595C1}"/>
              </a:ext>
            </a:extLst>
          </p:cNvPr>
          <p:cNvSpPr/>
          <p:nvPr/>
        </p:nvSpPr>
        <p:spPr>
          <a:xfrm>
            <a:off x="7775854" y="2422797"/>
            <a:ext cx="2395960" cy="369332"/>
          </a:xfrm>
          <a:prstGeom prst="roundRect">
            <a:avLst/>
          </a:prstGeom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700" dirty="0">
                <a:latin typeface="Arial" panose="020B0604020202020204" pitchFamily="34" charset="0"/>
                <a:cs typeface="Arial" panose="020B0604020202020204" pitchFamily="34" charset="0"/>
              </a:rPr>
              <a:t>Esaustiva</a:t>
            </a:r>
          </a:p>
        </p:txBody>
      </p:sp>
      <p:sp>
        <p:nvSpPr>
          <p:cNvPr id="9" name="Freccia giù 8">
            <a:extLst>
              <a:ext uri="{FF2B5EF4-FFF2-40B4-BE49-F238E27FC236}">
                <a16:creationId xmlns:a16="http://schemas.microsoft.com/office/drawing/2014/main" id="{6DDB9780-5409-E1C9-8896-309A497CA604}"/>
              </a:ext>
            </a:extLst>
          </p:cNvPr>
          <p:cNvSpPr/>
          <p:nvPr/>
        </p:nvSpPr>
        <p:spPr>
          <a:xfrm>
            <a:off x="8893217" y="2919773"/>
            <a:ext cx="161234" cy="509227"/>
          </a:xfrm>
          <a:prstGeom prst="downArrow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>
              <a:solidFill>
                <a:schemeClr val="tx1"/>
              </a:solidFill>
            </a:endParaRPr>
          </a:p>
        </p:txBody>
      </p:sp>
      <p:sp>
        <p:nvSpPr>
          <p:cNvPr id="10" name="Rettangolo con angoli arrotondati 9">
            <a:extLst>
              <a:ext uri="{FF2B5EF4-FFF2-40B4-BE49-F238E27FC236}">
                <a16:creationId xmlns:a16="http://schemas.microsoft.com/office/drawing/2014/main" id="{15C10B9D-60E8-46D5-34F2-E1E409CBFF58}"/>
              </a:ext>
            </a:extLst>
          </p:cNvPr>
          <p:cNvSpPr/>
          <p:nvPr/>
        </p:nvSpPr>
        <p:spPr>
          <a:xfrm>
            <a:off x="7113892" y="3556644"/>
            <a:ext cx="3881117" cy="121212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600" b="0" i="0" u="none" strike="noStrike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esplora in modo completo </a:t>
            </a:r>
            <a:r>
              <a:rPr lang="it-IT" sz="1600" b="0" i="0" u="sng" strike="noStrike" dirty="0">
                <a:solidFill>
                  <a:srgbClr val="FFFF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tutte</a:t>
            </a:r>
            <a:r>
              <a:rPr lang="it-IT" sz="1600" b="0" i="0" u="none" strike="noStrike" dirty="0">
                <a:solidFill>
                  <a:srgbClr val="FFFF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le </a:t>
            </a:r>
            <a:r>
              <a:rPr lang="it-IT" sz="1600" b="1" i="0" u="none" strike="noStrike" dirty="0">
                <a:solidFill>
                  <a:srgbClr val="FFFF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combinazioni di </a:t>
            </a:r>
            <a:r>
              <a:rPr lang="it-IT" sz="1600" b="1" i="0" u="none" strike="noStrike" dirty="0" err="1">
                <a:solidFill>
                  <a:srgbClr val="FFFF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iperparametri</a:t>
            </a:r>
            <a:r>
              <a:rPr lang="it-IT" sz="1600" b="1" i="0" u="none" strike="noStrike" dirty="0">
                <a:solidFill>
                  <a:srgbClr val="FFFF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z="1600" b="0" i="0" u="none" strike="noStrike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specificate, garantendo una ricerca sistematica del set ottimale</a:t>
            </a:r>
            <a:endParaRPr lang="it-IT" sz="1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050668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sellaDiTesto 4">
            <a:extLst>
              <a:ext uri="{FF2B5EF4-FFF2-40B4-BE49-F238E27FC236}">
                <a16:creationId xmlns:a16="http://schemas.microsoft.com/office/drawing/2014/main" id="{3BD404DA-1643-A2B9-FCFE-94EF7DA678A8}"/>
              </a:ext>
            </a:extLst>
          </p:cNvPr>
          <p:cNvSpPr txBox="1"/>
          <p:nvPr/>
        </p:nvSpPr>
        <p:spPr>
          <a:xfrm>
            <a:off x="2015441" y="308111"/>
            <a:ext cx="816111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dirty="0"/>
              <a:t>Di seguito riporto una sintetica descrizione dei </a:t>
            </a:r>
            <a:r>
              <a:rPr lang="it-IT" b="1" dirty="0"/>
              <a:t>parametri</a:t>
            </a:r>
            <a:r>
              <a:rPr lang="it-IT" dirty="0"/>
              <a:t> su cui ho ritenuto </a:t>
            </a:r>
            <a:r>
              <a:rPr lang="it-IT" u="sng" dirty="0"/>
              <a:t>opportuno</a:t>
            </a:r>
            <a:r>
              <a:rPr lang="it-IT" dirty="0"/>
              <a:t> eseguire la </a:t>
            </a:r>
            <a:r>
              <a:rPr lang="it-IT" b="1" dirty="0" err="1"/>
              <a:t>grid-search</a:t>
            </a:r>
            <a:endParaRPr lang="it-IT" b="1" dirty="0"/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0C2C38A4-763C-26CE-1336-6DFF9FF1E2E1}"/>
              </a:ext>
            </a:extLst>
          </p:cNvPr>
          <p:cNvSpPr txBox="1"/>
          <p:nvPr/>
        </p:nvSpPr>
        <p:spPr>
          <a:xfrm>
            <a:off x="0" y="1119676"/>
            <a:ext cx="304607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b="1" dirty="0"/>
              <a:t>Regressione logistica:</a:t>
            </a:r>
          </a:p>
        </p:txBody>
      </p:sp>
      <p:sp>
        <p:nvSpPr>
          <p:cNvPr id="10" name="Rettangolo con angoli arrotondati 9">
            <a:extLst>
              <a:ext uri="{FF2B5EF4-FFF2-40B4-BE49-F238E27FC236}">
                <a16:creationId xmlns:a16="http://schemas.microsoft.com/office/drawing/2014/main" id="{D0BD2AEA-5288-DA4E-8430-0371C46C1FD3}"/>
              </a:ext>
            </a:extLst>
          </p:cNvPr>
          <p:cNvSpPr/>
          <p:nvPr/>
        </p:nvSpPr>
        <p:spPr>
          <a:xfrm>
            <a:off x="182392" y="1654242"/>
            <a:ext cx="4163977" cy="293952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t-IT" sz="1600" dirty="0">
                <a:solidFill>
                  <a:schemeClr val="tx1">
                    <a:lumMod val="8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L’efficienza della regressione logistica è fortemente influenzata dal </a:t>
            </a:r>
            <a:r>
              <a:rPr lang="it-IT" sz="1600" b="1" i="0" u="none" strike="noStrike" dirty="0">
                <a:solidFill>
                  <a:srgbClr val="FFFF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parametro </a:t>
            </a:r>
            <a:r>
              <a:rPr lang="it-IT" sz="1600" b="1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lang="it-IT" sz="1600" dirty="0">
                <a:solidFill>
                  <a:schemeClr val="tx1">
                    <a:lumMod val="8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</a:t>
            </a:r>
            <a:r>
              <a:rPr lang="it-IT" sz="1600" b="0" i="0" u="none" strike="noStrike" dirty="0">
                <a:solidFill>
                  <a:schemeClr val="tx1">
                    <a:lumMod val="8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che rappresenta </a:t>
            </a:r>
            <a:r>
              <a:rPr lang="it-IT" sz="1600" b="1" i="0" u="none" strike="noStrike" dirty="0">
                <a:solidFill>
                  <a:schemeClr val="tx1">
                    <a:lumMod val="8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l'inverso della forza di regolarizzazione (</a:t>
            </a:r>
            <a:r>
              <a:rPr lang="el-GR" sz="1600" b="0" i="0" u="none" strike="noStrike" dirty="0">
                <a:solidFill>
                  <a:schemeClr val="tx1">
                    <a:lumMod val="85000"/>
                  </a:schemeClr>
                </a:solidFill>
                <a:effectLst/>
                <a:latin typeface="-webkit-standard"/>
              </a:rPr>
              <a:t>λ</a:t>
            </a:r>
            <a:r>
              <a:rPr lang="it-IT" sz="1600" b="1" i="0" u="none" strike="noStrike" dirty="0">
                <a:solidFill>
                  <a:schemeClr val="tx1">
                    <a:lumMod val="8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r>
              <a:rPr lang="it-IT" sz="1600" dirty="0">
                <a:solidFill>
                  <a:schemeClr val="tx1">
                    <a:lumMod val="8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it-IT" sz="1600" b="1" i="0" u="none" strike="noStrike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Valori piccoli di C</a:t>
            </a:r>
            <a:r>
              <a:rPr lang="it-IT" sz="1600" b="0" i="0" u="none" strike="noStrike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→ </a:t>
            </a:r>
            <a:r>
              <a:rPr lang="it-IT" sz="1600" b="1" i="0" u="none" strike="noStrike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Forte regolarizzazione</a:t>
            </a:r>
            <a:r>
              <a:rPr lang="it-IT" sz="1600" b="0" i="0" u="none" strike="noStrike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→ Il modello è più semplice e tende a generalizzare meglio.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it-IT" sz="1600" b="1" i="0" u="none" strike="noStrike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Valori grandi di C</a:t>
            </a:r>
            <a:r>
              <a:rPr lang="it-IT" sz="1600" b="0" i="0" u="none" strike="noStrike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→ </a:t>
            </a:r>
            <a:r>
              <a:rPr lang="it-IT" sz="1600" b="1" i="0" u="none" strike="noStrike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Debole regolarizzazione</a:t>
            </a:r>
            <a:r>
              <a:rPr lang="it-IT" sz="1600" b="0" i="0" u="none" strike="noStrike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→ Il modello è più complesso, più vicino all'</a:t>
            </a:r>
            <a:r>
              <a:rPr lang="it-IT" sz="1600" b="0" i="0" u="none" strike="noStrike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overfitting</a:t>
            </a:r>
            <a:r>
              <a:rPr lang="it-IT" sz="16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3575DDEF-B660-AAFF-B45F-99495CCA19A1}"/>
              </a:ext>
            </a:extLst>
          </p:cNvPr>
          <p:cNvSpPr txBox="1"/>
          <p:nvPr/>
        </p:nvSpPr>
        <p:spPr>
          <a:xfrm>
            <a:off x="6828008" y="1198825"/>
            <a:ext cx="229757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b="1" dirty="0"/>
              <a:t>SVM:</a:t>
            </a:r>
          </a:p>
        </p:txBody>
      </p:sp>
      <p:sp>
        <p:nvSpPr>
          <p:cNvPr id="13" name="Rettangolo con angoli arrotondati 12">
            <a:extLst>
              <a:ext uri="{FF2B5EF4-FFF2-40B4-BE49-F238E27FC236}">
                <a16:creationId xmlns:a16="http://schemas.microsoft.com/office/drawing/2014/main" id="{DFE1C50A-ACB5-D880-66CA-24FEBA0F999B}"/>
              </a:ext>
            </a:extLst>
          </p:cNvPr>
          <p:cNvSpPr/>
          <p:nvPr/>
        </p:nvSpPr>
        <p:spPr>
          <a:xfrm>
            <a:off x="6828007" y="1575047"/>
            <a:ext cx="4706947" cy="113342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600" dirty="0">
              <a:solidFill>
                <a:schemeClr val="tx1">
                  <a:lumMod val="8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it-IT" sz="1600" dirty="0">
                <a:solidFill>
                  <a:schemeClr val="tx1">
                    <a:lumMod val="8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Per lavorare su questo dataset ho pensato che usare il </a:t>
            </a:r>
            <a:r>
              <a:rPr lang="it-IT" sz="16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kernel gaussiano </a:t>
            </a:r>
            <a:r>
              <a:rPr lang="it-IT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(‘</a:t>
            </a:r>
            <a:r>
              <a:rPr lang="it-IT" sz="16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rbf</a:t>
            </a:r>
            <a:r>
              <a:rPr lang="it-IT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’) </a:t>
            </a:r>
            <a:r>
              <a:rPr lang="it-IT" sz="1600" dirty="0">
                <a:solidFill>
                  <a:schemeClr val="tx1">
                    <a:lumMod val="8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fosse una buona scelta, poiché m</a:t>
            </a:r>
            <a:r>
              <a:rPr lang="it-IT" sz="1600" b="0" i="0" u="none" strike="noStrike" dirty="0">
                <a:solidFill>
                  <a:schemeClr val="tx1">
                    <a:lumMod val="8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olto </a:t>
            </a:r>
            <a:r>
              <a:rPr lang="it-IT" sz="1600" b="0" i="0" u="sng" strike="noStrike" dirty="0">
                <a:solidFill>
                  <a:schemeClr val="tx1">
                    <a:lumMod val="8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flessibile</a:t>
            </a:r>
            <a:r>
              <a:rPr lang="it-IT" sz="1600" b="0" i="0" u="none" strike="noStrike" dirty="0">
                <a:solidFill>
                  <a:schemeClr val="tx1">
                    <a:lumMod val="8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capace di gestire separazioni altamente non lineari.</a:t>
            </a:r>
          </a:p>
          <a:p>
            <a:endParaRPr lang="it-IT" sz="1600" b="0" i="0" u="none" strike="noStrike" dirty="0">
              <a:solidFill>
                <a:schemeClr val="tx1">
                  <a:lumMod val="85000"/>
                </a:schemeClr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Rettangolo con angoli arrotondati 2">
            <a:extLst>
              <a:ext uri="{FF2B5EF4-FFF2-40B4-BE49-F238E27FC236}">
                <a16:creationId xmlns:a16="http://schemas.microsoft.com/office/drawing/2014/main" id="{B41B7364-6607-AF4C-E511-38F22D9E9A67}"/>
              </a:ext>
            </a:extLst>
          </p:cNvPr>
          <p:cNvSpPr/>
          <p:nvPr/>
        </p:nvSpPr>
        <p:spPr>
          <a:xfrm>
            <a:off x="6565740" y="3067291"/>
            <a:ext cx="5293397" cy="141211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t-IT" sz="1600" dirty="0">
                <a:solidFill>
                  <a:schemeClr val="tx1">
                    <a:lumMod val="8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 quindi eseguito la model </a:t>
            </a:r>
            <a:r>
              <a:rPr lang="it-IT" sz="1600" dirty="0" err="1">
                <a:solidFill>
                  <a:schemeClr val="tx1">
                    <a:lumMod val="8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selection</a:t>
            </a:r>
            <a:r>
              <a:rPr lang="it-IT" sz="1600" dirty="0">
                <a:solidFill>
                  <a:schemeClr val="tx1">
                    <a:lumMod val="8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per determinare i </a:t>
            </a:r>
            <a:r>
              <a:rPr lang="it-IT" sz="1600" b="1" u="sng" dirty="0">
                <a:solidFill>
                  <a:schemeClr val="tx1">
                    <a:lumMod val="8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migliori valori di </a:t>
            </a:r>
            <a:r>
              <a:rPr lang="it-IT" sz="1600" b="1" u="sng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C:</a:t>
            </a:r>
          </a:p>
          <a:p>
            <a:r>
              <a:rPr lang="it-IT" sz="1600" b="0" i="0" u="none" strike="noStrike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un </a:t>
            </a:r>
            <a:r>
              <a:rPr lang="it-IT" sz="1600" b="1" i="0" u="none" strike="noStrike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parametro di regolarizzazione</a:t>
            </a:r>
            <a:r>
              <a:rPr lang="it-IT" sz="1600" b="0" i="0" u="none" strike="noStrike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che controlla il </a:t>
            </a:r>
            <a:r>
              <a:rPr lang="it-IT" sz="1600" b="1" i="0" u="none" strike="noStrike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compromesso </a:t>
            </a:r>
            <a:r>
              <a:rPr lang="it-IT" sz="1600" i="0" u="none" strike="noStrike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tra ottenere </a:t>
            </a:r>
            <a:r>
              <a:rPr lang="it-IT" sz="1600" b="1" i="0" u="none" strike="noStrike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un margine ampio e classificare correttamente </a:t>
            </a:r>
            <a:r>
              <a:rPr lang="it-IT" sz="1600" i="0" u="none" strike="noStrike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i punti di addestramento</a:t>
            </a:r>
            <a:r>
              <a:rPr lang="it-IT" sz="1600" i="0" u="none" strike="noStrike" dirty="0">
                <a:effectLst/>
                <a:latin typeface="-webkit-standard"/>
              </a:rPr>
              <a:t>.</a:t>
            </a:r>
            <a:endParaRPr lang="it-IT" sz="1600" dirty="0"/>
          </a:p>
        </p:txBody>
      </p:sp>
      <p:sp>
        <p:nvSpPr>
          <p:cNvPr id="4" name="Rettangolo con angoli arrotondati 3">
            <a:extLst>
              <a:ext uri="{FF2B5EF4-FFF2-40B4-BE49-F238E27FC236}">
                <a16:creationId xmlns:a16="http://schemas.microsoft.com/office/drawing/2014/main" id="{3C5171AE-4D94-288A-4CDC-11B7A55E4D22}"/>
              </a:ext>
            </a:extLst>
          </p:cNvPr>
          <p:cNvSpPr/>
          <p:nvPr/>
        </p:nvSpPr>
        <p:spPr>
          <a:xfrm>
            <a:off x="6498926" y="4821325"/>
            <a:ext cx="5427023" cy="135279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Font typeface="Arial" panose="020B0604020202020204" pitchFamily="34" charset="0"/>
              <a:buChar char="•"/>
            </a:pPr>
            <a:r>
              <a:rPr lang="it-IT" sz="1600" b="1" i="0" u="none" strike="noStrike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 grande</a:t>
            </a:r>
            <a:r>
              <a:rPr lang="it-IT" sz="1600" b="0" i="0" u="none" strike="noStrike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→ </a:t>
            </a:r>
            <a:r>
              <a:rPr lang="it-IT" sz="1600" b="1" i="0" u="none" strike="noStrike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meno tolleranza agli errori</a:t>
            </a:r>
            <a:r>
              <a:rPr lang="it-IT" sz="1600" b="0" i="0" u="none" strike="noStrike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→ margine più stretto →  rischio </a:t>
            </a:r>
            <a:r>
              <a:rPr lang="it-IT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 </a:t>
            </a:r>
            <a:r>
              <a:rPr lang="it-IT" sz="1600" b="1" i="0" u="none" strike="noStrike" dirty="0" err="1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overfitting</a:t>
            </a:r>
            <a:endParaRPr lang="it-IT" sz="1600" b="0" i="0" u="none" strike="noStrike" dirty="0"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it-IT" sz="1600" b="1" i="0" u="none" strike="noStrike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 piccolo</a:t>
            </a:r>
            <a:r>
              <a:rPr lang="it-IT" sz="1600" b="0" i="0" u="none" strike="noStrike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→ </a:t>
            </a:r>
            <a:r>
              <a:rPr lang="it-IT" sz="1600" b="1" i="0" u="none" strike="noStrike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più tolleranza agli errori </a:t>
            </a:r>
            <a:r>
              <a:rPr lang="it-IT" sz="1600" b="0" i="0" u="none" strike="noStrike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→ margine più ampio e un modello più semplice → </a:t>
            </a:r>
            <a:r>
              <a:rPr lang="it-IT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rischio di </a:t>
            </a:r>
            <a:r>
              <a:rPr lang="it-IT" sz="16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underfitting</a:t>
            </a:r>
            <a:endParaRPr lang="it-IT" sz="1600" b="0" i="0" u="none" strike="noStrike" dirty="0"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52815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sellaDiTesto 3">
            <a:extLst>
              <a:ext uri="{FF2B5EF4-FFF2-40B4-BE49-F238E27FC236}">
                <a16:creationId xmlns:a16="http://schemas.microsoft.com/office/drawing/2014/main" id="{D4BE76E6-1ED3-AC14-AC0D-B65CF1698546}"/>
              </a:ext>
            </a:extLst>
          </p:cNvPr>
          <p:cNvSpPr txBox="1"/>
          <p:nvPr/>
        </p:nvSpPr>
        <p:spPr>
          <a:xfrm>
            <a:off x="406400" y="275771"/>
            <a:ext cx="14659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b="1" dirty="0"/>
              <a:t>k-NN</a:t>
            </a: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C725B431-6190-91C1-0BBA-1E656D324257}"/>
              </a:ext>
            </a:extLst>
          </p:cNvPr>
          <p:cNvSpPr txBox="1"/>
          <p:nvPr/>
        </p:nvSpPr>
        <p:spPr>
          <a:xfrm>
            <a:off x="7213599" y="275771"/>
            <a:ext cx="41801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b="1" dirty="0" err="1"/>
              <a:t>Decision</a:t>
            </a:r>
            <a:r>
              <a:rPr lang="it-IT" b="1" dirty="0"/>
              <a:t> </a:t>
            </a:r>
            <a:r>
              <a:rPr lang="it-IT" b="1" dirty="0" err="1"/>
              <a:t>tree</a:t>
            </a:r>
            <a:endParaRPr lang="it-IT" b="1" dirty="0"/>
          </a:p>
        </p:txBody>
      </p:sp>
      <p:sp>
        <p:nvSpPr>
          <p:cNvPr id="6" name="Rettangolo con angoli arrotondati 5">
            <a:extLst>
              <a:ext uri="{FF2B5EF4-FFF2-40B4-BE49-F238E27FC236}">
                <a16:creationId xmlns:a16="http://schemas.microsoft.com/office/drawing/2014/main" id="{BC720745-1476-1356-8001-F2B6D4555670}"/>
              </a:ext>
            </a:extLst>
          </p:cNvPr>
          <p:cNvSpPr/>
          <p:nvPr/>
        </p:nvSpPr>
        <p:spPr>
          <a:xfrm>
            <a:off x="471714" y="725714"/>
            <a:ext cx="4455886" cy="190137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t-IT" sz="1700" b="0" i="0" u="none" strike="noStrike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Il parametro </a:t>
            </a:r>
            <a:r>
              <a:rPr lang="it-IT" sz="1700" b="0" i="0" u="none" strike="noStrike" dirty="0">
                <a:solidFill>
                  <a:srgbClr val="FFFF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’</a:t>
            </a:r>
            <a:r>
              <a:rPr lang="it-IT" sz="1700" b="1" i="1" u="none" strike="noStrike" dirty="0" err="1">
                <a:solidFill>
                  <a:srgbClr val="FFFF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n_neighbors</a:t>
            </a:r>
            <a:r>
              <a:rPr lang="it-IT" sz="1700" b="1" i="1" u="none" strike="noStrike" dirty="0">
                <a:solidFill>
                  <a:srgbClr val="FFFF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’</a:t>
            </a:r>
            <a:r>
              <a:rPr lang="it-IT" sz="1700" b="0" i="1" u="none" strike="noStrike" dirty="0">
                <a:solidFill>
                  <a:srgbClr val="FFFF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lang="it-IT" sz="1700" b="0" i="0" u="none" strike="noStrike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in </a:t>
            </a:r>
            <a:r>
              <a:rPr lang="it-IT" sz="1700" b="1" i="0" u="none" strike="noStrike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K-NN</a:t>
            </a:r>
            <a:r>
              <a:rPr lang="it-IT" sz="1700" b="0" i="0" u="none" strike="noStrike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rappresenta il numero </a:t>
            </a:r>
            <a:r>
              <a:rPr lang="it-IT" sz="1700" b="1" i="0" u="none" strike="noStrike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k</a:t>
            </a:r>
            <a:r>
              <a:rPr lang="it-IT" sz="1700" b="0" i="0" u="none" strike="noStrike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di vicini più prossimi che il modello considera per fare una </a:t>
            </a:r>
            <a:r>
              <a:rPr lang="it-IT" sz="1700" i="0" u="none" strike="noStrike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predizione</a:t>
            </a:r>
            <a:r>
              <a:rPr lang="it-IT" sz="1700" b="1" i="0" u="none" strike="noStrike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700" dirty="0">
                <a:latin typeface="Arial" panose="020B0604020202020204" pitchFamily="34" charset="0"/>
                <a:cs typeface="Arial" panose="020B0604020202020204" pitchFamily="34" charset="0"/>
              </a:rPr>
              <a:t>K</a:t>
            </a:r>
            <a:r>
              <a:rPr lang="it-IT" sz="17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z="1700" b="1" u="sng" dirty="0">
                <a:latin typeface="Arial" panose="020B0604020202020204" pitchFamily="34" charset="0"/>
                <a:cs typeface="Arial" panose="020B0604020202020204" pitchFamily="34" charset="0"/>
              </a:rPr>
              <a:t>piccoli</a:t>
            </a:r>
            <a:r>
              <a:rPr lang="it-IT" sz="17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z="1700" b="0" i="0" u="none" strike="noStrike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→</a:t>
            </a:r>
            <a:r>
              <a:rPr lang="it-IT" sz="17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z="1700" dirty="0">
                <a:latin typeface="Arial" panose="020B0604020202020204" pitchFamily="34" charset="0"/>
                <a:cs typeface="Arial" panose="020B0604020202020204" pitchFamily="34" charset="0"/>
              </a:rPr>
              <a:t>può</a:t>
            </a:r>
            <a:r>
              <a:rPr lang="it-IT" sz="17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z="1700" b="1" i="1" dirty="0" err="1">
                <a:latin typeface="Arial" panose="020B0604020202020204" pitchFamily="34" charset="0"/>
                <a:cs typeface="Arial" panose="020B0604020202020204" pitchFamily="34" charset="0"/>
              </a:rPr>
              <a:t>overfittare</a:t>
            </a:r>
            <a:endParaRPr lang="it-IT" sz="1700" b="1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700" u="none" strike="noStrike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K</a:t>
            </a:r>
            <a:r>
              <a:rPr lang="it-IT" sz="1700" b="1" u="none" strike="noStrike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z="1700" b="1" u="sng" strike="noStrike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grandi</a:t>
            </a:r>
            <a:r>
              <a:rPr lang="it-IT" sz="1700" b="1" u="none" strike="noStrike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z="1700" b="0" i="0" u="none" strike="noStrike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→</a:t>
            </a:r>
            <a:r>
              <a:rPr lang="it-IT" sz="17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z="1700" dirty="0">
                <a:latin typeface="Arial" panose="020B0604020202020204" pitchFamily="34" charset="0"/>
                <a:cs typeface="Arial" panose="020B0604020202020204" pitchFamily="34" charset="0"/>
              </a:rPr>
              <a:t>rischio di</a:t>
            </a:r>
            <a:r>
              <a:rPr lang="it-IT" sz="1700" b="1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z="1700" b="1" i="1" dirty="0" err="1">
                <a:latin typeface="Arial" panose="020B0604020202020204" pitchFamily="34" charset="0"/>
                <a:cs typeface="Arial" panose="020B0604020202020204" pitchFamily="34" charset="0"/>
              </a:rPr>
              <a:t>underfit</a:t>
            </a:r>
            <a:endParaRPr lang="it-IT" sz="1700" b="0" i="1" u="none" strike="noStrike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Rettangolo con angoli arrotondati 6">
            <a:extLst>
              <a:ext uri="{FF2B5EF4-FFF2-40B4-BE49-F238E27FC236}">
                <a16:creationId xmlns:a16="http://schemas.microsoft.com/office/drawing/2014/main" id="{C9123D94-DD2D-3244-F978-5A516320CDA1}"/>
              </a:ext>
            </a:extLst>
          </p:cNvPr>
          <p:cNvSpPr/>
          <p:nvPr/>
        </p:nvSpPr>
        <p:spPr>
          <a:xfrm>
            <a:off x="341086" y="3018972"/>
            <a:ext cx="4586514" cy="319314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t-IT" sz="1700" b="1" i="1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‘</a:t>
            </a:r>
            <a:r>
              <a:rPr lang="it-IT" sz="1700" b="1" i="1" dirty="0" err="1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weight_options</a:t>
            </a:r>
            <a:r>
              <a:rPr lang="it-IT" sz="1700" b="1" i="1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’</a:t>
            </a:r>
            <a:r>
              <a:rPr lang="it-IT" sz="1700" b="0" i="0" u="none" strike="noStrike" dirty="0">
                <a:solidFill>
                  <a:srgbClr val="FFFF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lang="it-IT" sz="1700" b="0" i="0" u="none" strike="noStrike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in </a:t>
            </a:r>
            <a:r>
              <a:rPr lang="it-IT" sz="1700" b="1" i="0" u="none" strike="noStrike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K-</a:t>
            </a:r>
            <a:r>
              <a:rPr lang="it-IT" sz="1700" b="1" i="0" u="none" strike="noStrike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Nearest</a:t>
            </a:r>
            <a:r>
              <a:rPr lang="it-IT" sz="1700" b="1" i="0" u="none" strike="noStrike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z="1700" b="1" i="0" u="none" strike="noStrike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Neighbors</a:t>
            </a:r>
            <a:r>
              <a:rPr lang="it-IT" sz="1700" b="1" i="0" u="none" strike="noStrike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z="1700" b="0" i="0" u="none" strike="noStrike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controlla </a:t>
            </a:r>
            <a:r>
              <a:rPr lang="it-IT" sz="1700" b="1" i="0" u="none" strike="noStrike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come pesare l’influenza dei vicini</a:t>
            </a:r>
            <a:r>
              <a:rPr lang="it-IT" sz="1700" b="0" i="0" u="none" strike="noStrike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nella predizione: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700" b="1" i="0" u="sng" strike="noStrike" dirty="0">
                <a:effectLst/>
              </a:rPr>
              <a:t>'</a:t>
            </a:r>
            <a:r>
              <a:rPr lang="it-IT" sz="1700" b="1" i="0" u="sng" strike="noStrike" dirty="0" err="1">
                <a:effectLst/>
              </a:rPr>
              <a:t>uniform</a:t>
            </a:r>
            <a:r>
              <a:rPr lang="it-IT" sz="1700" b="1" i="0" u="none" strike="noStrike" dirty="0">
                <a:effectLst/>
              </a:rPr>
              <a:t>’: tutti i vicini contano allo stesso modo</a:t>
            </a:r>
            <a:r>
              <a:rPr lang="it-IT" sz="1700" b="0" i="0" u="none" strike="noStrike" dirty="0">
                <a:effectLst/>
              </a:rPr>
              <a:t>, indipendentemente da quanto sono lontani.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700" dirty="0">
                <a:latin typeface="Arial" panose="020B0604020202020204" pitchFamily="34" charset="0"/>
                <a:cs typeface="Arial" panose="020B0604020202020204" pitchFamily="34" charset="0"/>
              </a:rPr>
              <a:t>‘</a:t>
            </a:r>
            <a:r>
              <a:rPr lang="it-IT" sz="1700" b="1" u="sng" dirty="0" err="1">
                <a:latin typeface="Arial" panose="020B0604020202020204" pitchFamily="34" charset="0"/>
                <a:cs typeface="Arial" panose="020B0604020202020204" pitchFamily="34" charset="0"/>
              </a:rPr>
              <a:t>weighted</a:t>
            </a:r>
            <a:r>
              <a:rPr lang="it-IT" sz="1700" dirty="0">
                <a:latin typeface="Arial" panose="020B0604020202020204" pitchFamily="34" charset="0"/>
                <a:cs typeface="Arial" panose="020B0604020202020204" pitchFamily="34" charset="0"/>
              </a:rPr>
              <a:t>’: </a:t>
            </a:r>
            <a:r>
              <a:rPr lang="it-IT" sz="1700" b="0" i="0" u="none" strike="noStrike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I </a:t>
            </a:r>
            <a:r>
              <a:rPr lang="it-IT" sz="1700" b="1" i="0" u="none" strike="noStrike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vicini più vicini pesano di più</a:t>
            </a:r>
            <a:r>
              <a:rPr lang="it-IT" sz="1700" b="0" i="0" u="none" strike="noStrike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(di solito il peso è proporzionale a 1/d​, dove d è la distanza).</a:t>
            </a:r>
          </a:p>
        </p:txBody>
      </p:sp>
      <p:sp>
        <p:nvSpPr>
          <p:cNvPr id="10" name="Rettangolo con angoli arrotondati 9">
            <a:extLst>
              <a:ext uri="{FF2B5EF4-FFF2-40B4-BE49-F238E27FC236}">
                <a16:creationId xmlns:a16="http://schemas.microsoft.com/office/drawing/2014/main" id="{5D6BC4C5-E992-1CCC-B766-10188D7F95B0}"/>
              </a:ext>
            </a:extLst>
          </p:cNvPr>
          <p:cNvSpPr/>
          <p:nvPr/>
        </p:nvSpPr>
        <p:spPr>
          <a:xfrm>
            <a:off x="6952344" y="725714"/>
            <a:ext cx="4956628" cy="187234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t-IT" sz="1700" b="1" i="1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‘</a:t>
            </a:r>
            <a:r>
              <a:rPr lang="it-IT" sz="1700" b="1" i="1" dirty="0" err="1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max_depth</a:t>
            </a:r>
            <a:r>
              <a:rPr lang="it-IT" sz="1700" b="1" i="1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’  </a:t>
            </a:r>
            <a:r>
              <a:rPr lang="it-IT" sz="17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it-IT" sz="1700" u="none" strike="noStrike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mposta</a:t>
            </a:r>
            <a:r>
              <a:rPr lang="it-IT" sz="1700" b="0" i="0" u="none" strike="noStrike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lang="it-IT" sz="1700" b="1" i="0" u="none" strike="noStrike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la profondità massima</a:t>
            </a:r>
            <a:r>
              <a:rPr lang="it-IT" sz="1700" b="0" i="0" u="none" strike="noStrike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dell’albero: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700" dirty="0">
                <a:latin typeface="Arial" panose="020B0604020202020204" pitchFamily="34" charset="0"/>
                <a:cs typeface="Arial" panose="020B0604020202020204" pitchFamily="34" charset="0"/>
              </a:rPr>
              <a:t>Valori </a:t>
            </a:r>
            <a:r>
              <a:rPr lang="it-IT" sz="1700" b="1" u="sng" dirty="0">
                <a:latin typeface="Arial" panose="020B0604020202020204" pitchFamily="34" charset="0"/>
                <a:cs typeface="Arial" panose="020B0604020202020204" pitchFamily="34" charset="0"/>
              </a:rPr>
              <a:t>piccoli</a:t>
            </a:r>
            <a:r>
              <a:rPr lang="it-IT" sz="1700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it-IT" sz="1700" b="0" i="0" u="none" strike="noStrike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L’albero è </a:t>
            </a:r>
            <a:r>
              <a:rPr lang="it-IT" sz="1700" b="1" i="0" u="none" strike="noStrike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poco profondo</a:t>
            </a:r>
            <a:r>
              <a:rPr lang="it-IT" sz="1700" b="0" i="0" u="none" strike="noStrike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più semplice → rischia </a:t>
            </a:r>
            <a:r>
              <a:rPr lang="it-IT" sz="1700" b="1" i="1" strike="noStrike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underfitting</a:t>
            </a:r>
            <a:endParaRPr lang="it-IT" sz="1700" b="1" i="1" strike="noStrike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700" dirty="0">
                <a:latin typeface="Arial" panose="020B0604020202020204" pitchFamily="34" charset="0"/>
                <a:cs typeface="Arial" panose="020B0604020202020204" pitchFamily="34" charset="0"/>
              </a:rPr>
              <a:t>Valori </a:t>
            </a:r>
            <a:r>
              <a:rPr lang="it-IT" sz="1700" b="1" u="sng" dirty="0">
                <a:latin typeface="Arial" panose="020B0604020202020204" pitchFamily="34" charset="0"/>
                <a:cs typeface="Arial" panose="020B0604020202020204" pitchFamily="34" charset="0"/>
              </a:rPr>
              <a:t>grandi</a:t>
            </a:r>
            <a:r>
              <a:rPr lang="it-IT" sz="1700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it-IT" sz="1700" b="0" u="none" strike="noStrike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L’albero è </a:t>
            </a:r>
            <a:r>
              <a:rPr lang="it-IT" sz="1700" b="1" u="none" strike="noStrike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più profondo</a:t>
            </a:r>
            <a:r>
              <a:rPr lang="it-IT" sz="1700" b="0" u="none" strike="noStrike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più flessibile → rischia </a:t>
            </a:r>
            <a:r>
              <a:rPr lang="it-IT" sz="1700" b="1" i="1" u="none" strike="noStrike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overfitting</a:t>
            </a:r>
            <a:endParaRPr lang="it-IT" sz="1700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Rettangolo con angoli arrotondati 11">
            <a:extLst>
              <a:ext uri="{FF2B5EF4-FFF2-40B4-BE49-F238E27FC236}">
                <a16:creationId xmlns:a16="http://schemas.microsoft.com/office/drawing/2014/main" id="{6C4186B4-8238-D23B-48F4-40DD877BBD60}"/>
              </a:ext>
            </a:extLst>
          </p:cNvPr>
          <p:cNvSpPr/>
          <p:nvPr/>
        </p:nvSpPr>
        <p:spPr>
          <a:xfrm>
            <a:off x="6952344" y="3018972"/>
            <a:ext cx="4956628" cy="201748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it-IT" sz="1700" b="1" i="1" u="none" strike="noStrike" dirty="0">
                <a:solidFill>
                  <a:srgbClr val="FFFF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‘</a:t>
            </a:r>
            <a:r>
              <a:rPr lang="it-IT" sz="1700" b="1" i="1" u="none" strike="noStrike" dirty="0" err="1">
                <a:solidFill>
                  <a:srgbClr val="FFFF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min_samples_split</a:t>
            </a:r>
            <a:r>
              <a:rPr lang="it-IT" sz="1700" b="1" i="1" u="none" strike="noStrike" dirty="0">
                <a:solidFill>
                  <a:srgbClr val="FFFF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’</a:t>
            </a:r>
            <a:r>
              <a:rPr lang="it-IT" sz="1700" b="1" i="1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z="17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è</a:t>
            </a:r>
            <a:r>
              <a:rPr lang="it-IT" sz="1700" b="0" i="0" u="none" strike="noStrike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il </a:t>
            </a:r>
            <a:r>
              <a:rPr lang="it-IT" sz="1700" b="1" i="0" u="none" strike="noStrike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numero minimo di campioni</a:t>
            </a:r>
            <a:r>
              <a:rPr lang="it-IT" sz="1700" b="0" i="0" u="none" strike="noStrike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richiesto in un nodo </a:t>
            </a:r>
            <a:r>
              <a:rPr lang="it-IT" sz="1700" b="1" i="0" u="none" strike="noStrike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per poter essere diviso: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it-IT" sz="17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Valori piccoli: </a:t>
            </a:r>
            <a:r>
              <a:rPr lang="it-IT" sz="1700" b="0" i="0" u="none" strike="noStrike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l’albero può suddividere molto → può </a:t>
            </a:r>
            <a:r>
              <a:rPr lang="it-IT" sz="1700" b="1" i="0" u="none" strike="noStrike" dirty="0" err="1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overfittare</a:t>
            </a:r>
            <a:endParaRPr lang="it-IT" sz="1700" b="1" i="0" u="none" strike="noStrike" dirty="0"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it-IT" sz="1700" b="1" i="0" u="none" strike="noStrike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Valori grandi</a:t>
            </a:r>
            <a:r>
              <a:rPr lang="it-IT" sz="1700" b="0" i="0" u="none" strike="noStrike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 richiede più dati per ogni split → più </a:t>
            </a:r>
            <a:r>
              <a:rPr lang="it-IT" sz="1700" b="1" i="0" u="none" strike="noStrike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semplice</a:t>
            </a:r>
            <a:r>
              <a:rPr lang="it-IT" sz="1700" b="0" i="0" u="none" strike="noStrike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rischia </a:t>
            </a:r>
            <a:r>
              <a:rPr lang="it-IT" sz="1700" b="1" i="0" u="none" strike="noStrike" dirty="0" err="1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underfitting</a:t>
            </a:r>
            <a:endParaRPr lang="it-IT" sz="1700" b="0" i="0" u="none" strike="noStrike" dirty="0"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329855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668D53D-7ECC-ACC3-E467-A0B71AE158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415" y="158188"/>
            <a:ext cx="3268541" cy="825661"/>
          </a:xfrm>
        </p:spPr>
        <p:txBody>
          <a:bodyPr/>
          <a:lstStyle/>
          <a:p>
            <a:r>
              <a:rPr lang="it-IT"/>
              <a:t>Risultati</a:t>
            </a:r>
            <a:endParaRPr lang="it-IT" dirty="0"/>
          </a:p>
        </p:txBody>
      </p:sp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5B45F845-3544-493F-19AE-920C24989174}"/>
              </a:ext>
            </a:extLst>
          </p:cNvPr>
          <p:cNvSpPr txBox="1"/>
          <p:nvPr/>
        </p:nvSpPr>
        <p:spPr>
          <a:xfrm>
            <a:off x="296886" y="861278"/>
            <a:ext cx="1159822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600" dirty="0"/>
              <a:t>Dai risultati ottenuti risulta evidente che nessuno di questi modelli si presti a risolvere in maniera efficace questo problema di classificazione,  in quanto le migliori prestazioni riscontrate (quelle di SVM) garantiscono un’accuratezza pari circa al 45%</a:t>
            </a:r>
          </a:p>
        </p:txBody>
      </p:sp>
      <p:sp>
        <p:nvSpPr>
          <p:cNvPr id="17" name="CasellaDiTesto 16">
            <a:extLst>
              <a:ext uri="{FF2B5EF4-FFF2-40B4-BE49-F238E27FC236}">
                <a16:creationId xmlns:a16="http://schemas.microsoft.com/office/drawing/2014/main" id="{5623063E-C66E-F822-6B85-804D28779A69}"/>
              </a:ext>
            </a:extLst>
          </p:cNvPr>
          <p:cNvSpPr txBox="1"/>
          <p:nvPr/>
        </p:nvSpPr>
        <p:spPr>
          <a:xfrm>
            <a:off x="123611" y="1846900"/>
            <a:ext cx="29161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/>
              <a:t>Regressione Logistica:</a:t>
            </a:r>
          </a:p>
        </p:txBody>
      </p:sp>
      <p:sp>
        <p:nvSpPr>
          <p:cNvPr id="18" name="CasellaDiTesto 17">
            <a:extLst>
              <a:ext uri="{FF2B5EF4-FFF2-40B4-BE49-F238E27FC236}">
                <a16:creationId xmlns:a16="http://schemas.microsoft.com/office/drawing/2014/main" id="{D48F52DB-9E85-7DFD-A6AC-76C1A70AD7A5}"/>
              </a:ext>
            </a:extLst>
          </p:cNvPr>
          <p:cNvSpPr txBox="1"/>
          <p:nvPr/>
        </p:nvSpPr>
        <p:spPr>
          <a:xfrm>
            <a:off x="6317673" y="1876875"/>
            <a:ext cx="27907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/>
              <a:t>SVM:</a:t>
            </a:r>
          </a:p>
        </p:txBody>
      </p:sp>
      <p:sp>
        <p:nvSpPr>
          <p:cNvPr id="19" name="CasellaDiTesto 18">
            <a:extLst>
              <a:ext uri="{FF2B5EF4-FFF2-40B4-BE49-F238E27FC236}">
                <a16:creationId xmlns:a16="http://schemas.microsoft.com/office/drawing/2014/main" id="{A5563538-7717-6410-5463-2D60CE34F101}"/>
              </a:ext>
            </a:extLst>
          </p:cNvPr>
          <p:cNvSpPr txBox="1"/>
          <p:nvPr/>
        </p:nvSpPr>
        <p:spPr>
          <a:xfrm>
            <a:off x="134415" y="4476522"/>
            <a:ext cx="27429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/>
              <a:t>K-NN:</a:t>
            </a:r>
          </a:p>
        </p:txBody>
      </p:sp>
      <p:sp>
        <p:nvSpPr>
          <p:cNvPr id="20" name="CasellaDiTesto 19">
            <a:extLst>
              <a:ext uri="{FF2B5EF4-FFF2-40B4-BE49-F238E27FC236}">
                <a16:creationId xmlns:a16="http://schemas.microsoft.com/office/drawing/2014/main" id="{3537E054-B3CF-5E65-FEB0-019F80C507B2}"/>
              </a:ext>
            </a:extLst>
          </p:cNvPr>
          <p:cNvSpPr txBox="1"/>
          <p:nvPr/>
        </p:nvSpPr>
        <p:spPr>
          <a:xfrm>
            <a:off x="6317673" y="4476522"/>
            <a:ext cx="36813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 err="1"/>
              <a:t>Decision</a:t>
            </a:r>
            <a:r>
              <a:rPr lang="it-IT" dirty="0"/>
              <a:t> </a:t>
            </a:r>
            <a:r>
              <a:rPr lang="it-IT" dirty="0" err="1"/>
              <a:t>tree</a:t>
            </a:r>
            <a:r>
              <a:rPr lang="it-IT" dirty="0"/>
              <a:t>:</a:t>
            </a: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DD39DB5D-4B2C-93E9-9A97-896004C95D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7673" y="2335098"/>
            <a:ext cx="3060700" cy="1485900"/>
          </a:xfrm>
          <a:prstGeom prst="rect">
            <a:avLst/>
          </a:prstGeom>
        </p:spPr>
      </p:pic>
      <p:pic>
        <p:nvPicPr>
          <p:cNvPr id="6" name="Immagine 5" descr="Immagine che contiene testo, schermata, Carattere&#10;&#10;Il contenuto generato dall'IA potrebbe non essere corretto.">
            <a:extLst>
              <a:ext uri="{FF2B5EF4-FFF2-40B4-BE49-F238E27FC236}">
                <a16:creationId xmlns:a16="http://schemas.microsoft.com/office/drawing/2014/main" id="{F0E15A67-34D6-0B6C-5B7A-1368748115C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9591" y="4845854"/>
            <a:ext cx="5644737" cy="1462555"/>
          </a:xfrm>
          <a:prstGeom prst="rect">
            <a:avLst/>
          </a:prstGeom>
        </p:spPr>
      </p:pic>
      <p:pic>
        <p:nvPicPr>
          <p:cNvPr id="8" name="Immagine 7" descr="Immagine che contiene testo, Carattere, schermata&#10;&#10;Il contenuto generato dall'IA potrebbe non essere corretto.">
            <a:extLst>
              <a:ext uri="{FF2B5EF4-FFF2-40B4-BE49-F238E27FC236}">
                <a16:creationId xmlns:a16="http://schemas.microsoft.com/office/drawing/2014/main" id="{2FF46B7C-C2EC-016C-1BB9-A1952A1E64F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3611" y="2335098"/>
            <a:ext cx="4533900" cy="1473200"/>
          </a:xfrm>
          <a:prstGeom prst="rect">
            <a:avLst/>
          </a:prstGeom>
        </p:spPr>
      </p:pic>
      <p:pic>
        <p:nvPicPr>
          <p:cNvPr id="10" name="Immagine 9" descr="Immagine che contiene testo, schermata, Carattere&#10;&#10;Il contenuto generato dall'IA potrebbe non essere corretto.">
            <a:extLst>
              <a:ext uri="{FF2B5EF4-FFF2-40B4-BE49-F238E27FC236}">
                <a16:creationId xmlns:a16="http://schemas.microsoft.com/office/drawing/2014/main" id="{CE77E602-66C4-73F7-B5D5-A9C2968A0E8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17672" y="4845854"/>
            <a:ext cx="5644737" cy="12193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31918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Rete">
  <a:themeElements>
    <a:clrScheme name="Mesh">
      <a:dk1>
        <a:sysClr val="windowText" lastClr="000000"/>
      </a:dk1>
      <a:lt1>
        <a:sysClr val="window" lastClr="FFFFFF"/>
      </a:lt1>
      <a:dk2>
        <a:srgbClr val="363D46"/>
      </a:dk2>
      <a:lt2>
        <a:srgbClr val="EBEBEB"/>
      </a:lt2>
      <a:accent1>
        <a:srgbClr val="6F6F6F"/>
      </a:accent1>
      <a:accent2>
        <a:srgbClr val="BFBFA5"/>
      </a:accent2>
      <a:accent3>
        <a:srgbClr val="DCD084"/>
      </a:accent3>
      <a:accent4>
        <a:srgbClr val="E7BF5F"/>
      </a:accent4>
      <a:accent5>
        <a:srgbClr val="E9A039"/>
      </a:accent5>
      <a:accent6>
        <a:srgbClr val="CF7133"/>
      </a:accent6>
      <a:hlink>
        <a:srgbClr val="F28943"/>
      </a:hlink>
      <a:folHlink>
        <a:srgbClr val="F1B76C"/>
      </a:folHlink>
    </a:clrScheme>
    <a:fontScheme name="Mesh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Mesh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84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50800" dist="25400" dir="13500000">
              <a:srgbClr val="000000">
                <a:alpha val="5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>
            <a:bevelT w="25400" h="25400" prst="slop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28000"/>
                <a:satMod val="94000"/>
                <a:lumMod val="20000"/>
              </a:schemeClr>
              <a:schemeClr val="phClr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esh" id="{789EC3FE-34FD-429C-9918-760025E6C145}" vid="{B8BE45C0-8141-4D58-8C71-A009BC26FBBB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Rete</Template>
  <TotalTime>446</TotalTime>
  <Words>695</Words>
  <Application>Microsoft Macintosh PowerPoint</Application>
  <PresentationFormat>Widescreen</PresentationFormat>
  <Paragraphs>53</Paragraphs>
  <Slides>7</Slides>
  <Notes>1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4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7</vt:i4>
      </vt:variant>
    </vt:vector>
  </HeadingPairs>
  <TitlesOfParts>
    <vt:vector size="12" baseType="lpstr">
      <vt:lpstr>-webkit-standard</vt:lpstr>
      <vt:lpstr>Aptos</vt:lpstr>
      <vt:lpstr>Arial</vt:lpstr>
      <vt:lpstr>Century Gothic</vt:lpstr>
      <vt:lpstr>Rete</vt:lpstr>
      <vt:lpstr>Homework 2 - classificatori</vt:lpstr>
      <vt:lpstr>CIFRAR-10</vt:lpstr>
      <vt:lpstr>Caricamento del DATAset</vt:lpstr>
      <vt:lpstr>Model Selection</vt:lpstr>
      <vt:lpstr>Presentazione standard di PowerPoint</vt:lpstr>
      <vt:lpstr>Presentazione standard di PowerPoint</vt:lpstr>
      <vt:lpstr>Risultati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BENEDETTA NASSI</dc:creator>
  <cp:lastModifiedBy>BENEDETTA NASSI</cp:lastModifiedBy>
  <cp:revision>2</cp:revision>
  <dcterms:created xsi:type="dcterms:W3CDTF">2025-04-22T15:50:43Z</dcterms:created>
  <dcterms:modified xsi:type="dcterms:W3CDTF">2025-05-02T16:51:48Z</dcterms:modified>
</cp:coreProperties>
</file>